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Lato Light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38C215-89E5-4F5B-AA03-0A5E4D091B54}">
  <a:tblStyle styleId="{0138C215-89E5-4F5B-AA03-0A5E4D091B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04354089-3BDC-4FBB-94C8-223251191CA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Light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LatoLight-italic.fntdata"/><Relationship Id="rId10" Type="http://schemas.openxmlformats.org/officeDocument/2006/relationships/slide" Target="slides/slide4.xml"/><Relationship Id="rId32" Type="http://schemas.openxmlformats.org/officeDocument/2006/relationships/font" Target="fonts/LatoLight-bold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LatoLight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oppi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endParaRPr/>
          </a:p>
        </p:txBody>
      </p:sp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endParaRPr/>
          </a:p>
        </p:txBody>
      </p:sp>
      <p:sp>
        <p:nvSpPr>
          <p:cNvPr id="354" name="Google Shape;3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2ebbb2f6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2ebbb2f67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2ebbb2f67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f2ebbb2f67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3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2.png"/><Relationship Id="rId13" Type="http://schemas.openxmlformats.org/officeDocument/2006/relationships/image" Target="../media/image35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60.png"/><Relationship Id="rId15" Type="http://schemas.openxmlformats.org/officeDocument/2006/relationships/image" Target="../media/image17.png"/><Relationship Id="rId14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31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42.png"/><Relationship Id="rId5" Type="http://schemas.openxmlformats.org/officeDocument/2006/relationships/image" Target="../media/image32.png"/><Relationship Id="rId6" Type="http://schemas.openxmlformats.org/officeDocument/2006/relationships/image" Target="../media/image48.png"/><Relationship Id="rId7" Type="http://schemas.openxmlformats.org/officeDocument/2006/relationships/image" Target="../media/image43.png"/><Relationship Id="rId8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Relationship Id="rId5" Type="http://schemas.openxmlformats.org/officeDocument/2006/relationships/image" Target="../media/image58.png"/><Relationship Id="rId6" Type="http://schemas.openxmlformats.org/officeDocument/2006/relationships/image" Target="../media/image47.png"/><Relationship Id="rId7" Type="http://schemas.openxmlformats.org/officeDocument/2006/relationships/image" Target="../media/image49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9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63.png"/><Relationship Id="rId7" Type="http://schemas.openxmlformats.org/officeDocument/2006/relationships/image" Target="../media/image54.png"/><Relationship Id="rId8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57.png"/><Relationship Id="rId6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44.png"/><Relationship Id="rId5" Type="http://schemas.openxmlformats.org/officeDocument/2006/relationships/image" Target="../media/image50.png"/><Relationship Id="rId6" Type="http://schemas.openxmlformats.org/officeDocument/2006/relationships/image" Target="../media/image83.png"/><Relationship Id="rId7" Type="http://schemas.openxmlformats.org/officeDocument/2006/relationships/image" Target="../media/image6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62.png"/><Relationship Id="rId5" Type="http://schemas.openxmlformats.org/officeDocument/2006/relationships/image" Target="../media/image71.png"/><Relationship Id="rId6" Type="http://schemas.openxmlformats.org/officeDocument/2006/relationships/image" Target="../media/image61.png"/><Relationship Id="rId7" Type="http://schemas.openxmlformats.org/officeDocument/2006/relationships/image" Target="../media/image67.png"/><Relationship Id="rId8" Type="http://schemas.openxmlformats.org/officeDocument/2006/relationships/image" Target="../media/image7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png"/><Relationship Id="rId4" Type="http://schemas.openxmlformats.org/officeDocument/2006/relationships/image" Target="../media/image74.png"/><Relationship Id="rId9" Type="http://schemas.openxmlformats.org/officeDocument/2006/relationships/image" Target="../media/image65.png"/><Relationship Id="rId5" Type="http://schemas.openxmlformats.org/officeDocument/2006/relationships/image" Target="../media/image56.png"/><Relationship Id="rId6" Type="http://schemas.openxmlformats.org/officeDocument/2006/relationships/image" Target="../media/image66.png"/><Relationship Id="rId7" Type="http://schemas.openxmlformats.org/officeDocument/2006/relationships/image" Target="../media/image77.png"/><Relationship Id="rId8" Type="http://schemas.openxmlformats.org/officeDocument/2006/relationships/image" Target="../media/image7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64.png"/><Relationship Id="rId5" Type="http://schemas.openxmlformats.org/officeDocument/2006/relationships/image" Target="../media/image76.png"/><Relationship Id="rId6" Type="http://schemas.openxmlformats.org/officeDocument/2006/relationships/image" Target="../media/image7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7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80.png"/><Relationship Id="rId9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69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903761"/>
            <a:ext cx="7620000" cy="11886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05663" y="2089398"/>
            <a:ext cx="5380672" cy="59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EventivaNexo PyME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24187" y="2966591"/>
            <a:ext cx="6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Lato Light"/>
                <a:ea typeface="Lato Light"/>
                <a:cs typeface="Lato Light"/>
                <a:sym typeface="Lato Light"/>
              </a:rPr>
              <a:t>Fase Final: Proyecto Portafolio de título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33650" y="4151411"/>
            <a:ext cx="3371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AUTORES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533650" y="4387601"/>
            <a:ext cx="3372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Haim</a:t>
            </a:r>
            <a:r>
              <a:rPr b="1" lang="en-US" sz="11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1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Day Paz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533650" y="4616201"/>
            <a:ext cx="337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Cristian Maldonado Inostroza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0" y="4151411"/>
            <a:ext cx="3372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DOCENTE GUÍA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286500" y="4387601"/>
            <a:ext cx="337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Cindy Contador Cisterna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286500" y="4616201"/>
            <a:ext cx="3372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Duoc UC | Junio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0150"/>
            <a:ext cx="5324474" cy="360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30150"/>
            <a:ext cx="5324474" cy="360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84125" y="2328383"/>
            <a:ext cx="462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Problemática</a:t>
            </a:r>
            <a:endParaRPr sz="1800"/>
          </a:p>
        </p:txBody>
      </p:sp>
      <p:sp>
        <p:nvSpPr>
          <p:cNvPr id="102" name="Google Shape;102;p14"/>
          <p:cNvSpPr txBox="1"/>
          <p:nvPr/>
        </p:nvSpPr>
        <p:spPr>
          <a:xfrm>
            <a:off x="696600" y="2679825"/>
            <a:ext cx="520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Las micro y pequeñas agencias coordinadoras de eventos gestionan procesos de forma manual e informal (herramientas fragmentadas, llamadas sueltas).</a:t>
            </a:r>
            <a:endParaRPr sz="1500"/>
          </a:p>
        </p:txBody>
      </p:sp>
      <p:sp>
        <p:nvSpPr>
          <p:cNvPr id="103" name="Google Shape;103;p14"/>
          <p:cNvSpPr txBox="1"/>
          <p:nvPr/>
        </p:nvSpPr>
        <p:spPr>
          <a:xfrm>
            <a:off x="6741975" y="2328383"/>
            <a:ext cx="46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Oportunidad</a:t>
            </a:r>
            <a:endParaRPr sz="1800"/>
          </a:p>
        </p:txBody>
      </p:sp>
      <p:sp>
        <p:nvSpPr>
          <p:cNvPr id="104" name="Google Shape;104;p14"/>
          <p:cNvSpPr txBox="1"/>
          <p:nvPr/>
        </p:nvSpPr>
        <p:spPr>
          <a:xfrm>
            <a:off x="6456675" y="2679825"/>
            <a:ext cx="515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Desarrollar una solución móvil Android nativa que unifique e integre flujos operativos bajo una lógica distribuida resiliente.</a:t>
            </a:r>
            <a:endParaRPr sz="1500"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9325" y="238077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114425" y="3786075"/>
            <a:ext cx="472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Falta de trazabilidad en la asignación de personal calificado.</a:t>
            </a:r>
            <a:endParaRPr sz="1500"/>
          </a:p>
        </p:txBody>
      </p:sp>
      <p:sp>
        <p:nvSpPr>
          <p:cNvPr id="107" name="Google Shape;107;p14"/>
          <p:cNvSpPr txBox="1"/>
          <p:nvPr/>
        </p:nvSpPr>
        <p:spPr>
          <a:xfrm>
            <a:off x="1081638" y="4484780"/>
            <a:ext cx="44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Descoordinación de espacios físicos con locales asociados.</a:t>
            </a:r>
            <a:endParaRPr sz="1500"/>
          </a:p>
        </p:txBody>
      </p:sp>
      <p:sp>
        <p:nvSpPr>
          <p:cNvPr id="108" name="Google Shape;108;p14"/>
          <p:cNvSpPr txBox="1"/>
          <p:nvPr/>
        </p:nvSpPr>
        <p:spPr>
          <a:xfrm>
            <a:off x="1081650" y="5183485"/>
            <a:ext cx="44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Nula centralización y análisis del feedback de los comensales.</a:t>
            </a:r>
            <a:endParaRPr sz="1500"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4800" y="2380771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877050" y="3718619"/>
            <a:ext cx="44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Estandarización: Perfiles claros para organizadores, locales y personal.</a:t>
            </a:r>
            <a:endParaRPr sz="1500"/>
          </a:p>
        </p:txBody>
      </p:sp>
      <p:sp>
        <p:nvSpPr>
          <p:cNvPr id="111" name="Google Shape;111;p14"/>
          <p:cNvSpPr txBox="1"/>
          <p:nvPr/>
        </p:nvSpPr>
        <p:spPr>
          <a:xfrm>
            <a:off x="6877050" y="4380893"/>
            <a:ext cx="44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Persistencia garantizada: Funcionamiento continuo sin internet.</a:t>
            </a:r>
            <a:endParaRPr sz="1500"/>
          </a:p>
        </p:txBody>
      </p:sp>
      <p:sp>
        <p:nvSpPr>
          <p:cNvPr id="112" name="Google Shape;112;p14"/>
          <p:cNvSpPr txBox="1"/>
          <p:nvPr/>
        </p:nvSpPr>
        <p:spPr>
          <a:xfrm>
            <a:off x="6877050" y="5043160"/>
            <a:ext cx="44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Toma de decisiones guiada por análisis de reputación real.</a:t>
            </a:r>
            <a:endParaRPr sz="1500"/>
          </a:p>
        </p:txBody>
      </p:sp>
      <p:sp>
        <p:nvSpPr>
          <p:cNvPr id="113" name="Google Shape;113;p14"/>
          <p:cNvSpPr txBox="1"/>
          <p:nvPr/>
        </p:nvSpPr>
        <p:spPr>
          <a:xfrm>
            <a:off x="904875" y="381297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04875" y="447088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47725" y="5183474"/>
            <a:ext cx="20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610350" y="3718619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610350" y="439898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610350" y="507933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85837" y="485775"/>
            <a:ext cx="4850606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 y Desafío Operativo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981200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27077"/>
            <a:ext cx="2590800" cy="769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700" y="3527077"/>
            <a:ext cx="2590800" cy="769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39542"/>
            <a:ext cx="2590800" cy="769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14700" y="4439542"/>
            <a:ext cx="2590800" cy="769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581025" y="1858804"/>
            <a:ext cx="55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Estándar IEEE 830-1998</a:t>
            </a:r>
            <a:endParaRPr sz="2400"/>
          </a:p>
        </p:txBody>
      </p:sp>
      <p:sp>
        <p:nvSpPr>
          <p:cNvPr id="131" name="Google Shape;131;p15"/>
          <p:cNvSpPr txBox="1"/>
          <p:nvPr/>
        </p:nvSpPr>
        <p:spPr>
          <a:xfrm>
            <a:off x="581025" y="2296950"/>
            <a:ext cx="530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Especificación técnica formal para optimizar y asegurar la cadena de valor en las agencias del rubro, estructurando el MVP sobre cuatro pilares operativos:</a:t>
            </a:r>
            <a:endParaRPr sz="1500"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96025" y="1990725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33425" y="3679477"/>
            <a:ext cx="24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Autenticación</a:t>
            </a:r>
            <a:endParaRPr sz="1200"/>
          </a:p>
        </p:txBody>
      </p:sp>
      <p:sp>
        <p:nvSpPr>
          <p:cNvPr id="134" name="Google Shape;134;p15"/>
          <p:cNvSpPr txBox="1"/>
          <p:nvPr/>
        </p:nvSpPr>
        <p:spPr>
          <a:xfrm>
            <a:off x="733425" y="3946177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Roles seguros.</a:t>
            </a:r>
            <a:endParaRPr sz="1200"/>
          </a:p>
        </p:txBody>
      </p:sp>
      <p:sp>
        <p:nvSpPr>
          <p:cNvPr id="135" name="Google Shape;135;p15"/>
          <p:cNvSpPr txBox="1"/>
          <p:nvPr/>
        </p:nvSpPr>
        <p:spPr>
          <a:xfrm>
            <a:off x="3467100" y="3679477"/>
            <a:ext cx="24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Menús y Locales</a:t>
            </a:r>
            <a:endParaRPr sz="1200"/>
          </a:p>
        </p:txBody>
      </p:sp>
      <p:sp>
        <p:nvSpPr>
          <p:cNvPr id="136" name="Google Shape;136;p15"/>
          <p:cNvSpPr txBox="1"/>
          <p:nvPr/>
        </p:nvSpPr>
        <p:spPr>
          <a:xfrm>
            <a:off x="3467100" y="3946177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Catálogo ágil.</a:t>
            </a:r>
            <a:endParaRPr sz="1200"/>
          </a:p>
        </p:txBody>
      </p:sp>
      <p:sp>
        <p:nvSpPr>
          <p:cNvPr id="137" name="Google Shape;137;p15"/>
          <p:cNvSpPr txBox="1"/>
          <p:nvPr/>
        </p:nvSpPr>
        <p:spPr>
          <a:xfrm>
            <a:off x="733425" y="4591942"/>
            <a:ext cx="24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Mensajería</a:t>
            </a:r>
            <a:endParaRPr sz="1200"/>
          </a:p>
        </p:txBody>
      </p:sp>
      <p:sp>
        <p:nvSpPr>
          <p:cNvPr id="138" name="Google Shape;138;p15"/>
          <p:cNvSpPr txBox="1"/>
          <p:nvPr/>
        </p:nvSpPr>
        <p:spPr>
          <a:xfrm>
            <a:off x="733425" y="4858642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Coordinación asíncrona.</a:t>
            </a:r>
            <a:endParaRPr sz="1200"/>
          </a:p>
        </p:txBody>
      </p:sp>
      <p:sp>
        <p:nvSpPr>
          <p:cNvPr id="139" name="Google Shape;139;p15"/>
          <p:cNvSpPr txBox="1"/>
          <p:nvPr/>
        </p:nvSpPr>
        <p:spPr>
          <a:xfrm>
            <a:off x="3467100" y="4591942"/>
            <a:ext cx="24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Reputación</a:t>
            </a:r>
            <a:endParaRPr sz="1200"/>
          </a:p>
        </p:txBody>
      </p:sp>
      <p:sp>
        <p:nvSpPr>
          <p:cNvPr id="140" name="Google Shape;140;p15"/>
          <p:cNvSpPr txBox="1"/>
          <p:nvPr/>
        </p:nvSpPr>
        <p:spPr>
          <a:xfrm>
            <a:off x="3467100" y="4858642"/>
            <a:ext cx="22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Módulo algorítmico.</a:t>
            </a:r>
            <a:endParaRPr sz="1200"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425" y="371757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29000" y="3673613"/>
            <a:ext cx="161925" cy="186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3425" y="4630042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467100" y="4630042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985837" y="485775"/>
            <a:ext cx="466558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Propósito y Alcance del MVP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050" y="2679150"/>
            <a:ext cx="3549550" cy="257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4975" y="1162150"/>
            <a:ext cx="3549700" cy="146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400" y="2624700"/>
            <a:ext cx="3549550" cy="252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00" y="3081563"/>
            <a:ext cx="3208250" cy="970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00" y="4119250"/>
            <a:ext cx="3208250" cy="9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36475" y="1588863"/>
            <a:ext cx="3208250" cy="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1750" y="3027125"/>
            <a:ext cx="3208250" cy="97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91750" y="4078450"/>
            <a:ext cx="3208250" cy="97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692150" y="2733590"/>
            <a:ext cx="314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POR HACER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692150" y="2990765"/>
            <a:ext cx="31494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4495075" y="1227903"/>
            <a:ext cx="3149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 PROGRESO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4495075" y="1485078"/>
            <a:ext cx="31497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8350500" y="2679140"/>
            <a:ext cx="314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LISTO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8350500" y="2936315"/>
            <a:ext cx="31494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22575" y="2733590"/>
            <a:ext cx="2190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785663" y="3143165"/>
            <a:ext cx="297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R.13 Notificaciones</a:t>
            </a:r>
            <a:endParaRPr sz="1600"/>
          </a:p>
        </p:txBody>
      </p:sp>
      <p:sp>
        <p:nvSpPr>
          <p:cNvPr id="167" name="Google Shape;167;p16"/>
          <p:cNvSpPr txBox="1"/>
          <p:nvPr/>
        </p:nvSpPr>
        <p:spPr>
          <a:xfrm>
            <a:off x="785663" y="4194487"/>
            <a:ext cx="297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R.15 Inventario</a:t>
            </a:r>
            <a:endParaRPr sz="1600"/>
          </a:p>
        </p:txBody>
      </p:sp>
      <p:pic>
        <p:nvPicPr>
          <p:cNvPr descr="image.png" id="168" name="Google Shape;16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18275" y="1228978"/>
            <a:ext cx="2190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4588588" y="1637478"/>
            <a:ext cx="297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R.7 Mensajería</a:t>
            </a:r>
            <a:endParaRPr sz="1600"/>
          </a:p>
        </p:txBody>
      </p:sp>
      <p:pic>
        <p:nvPicPr>
          <p:cNvPr descr="image.png" id="170" name="Google Shape;17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280926" y="2679140"/>
            <a:ext cx="2190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8444013" y="3088715"/>
            <a:ext cx="297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R.1 Autenticación</a:t>
            </a:r>
            <a:endParaRPr sz="1600"/>
          </a:p>
        </p:txBody>
      </p:sp>
      <p:sp>
        <p:nvSpPr>
          <p:cNvPr id="172" name="Google Shape;172;p16"/>
          <p:cNvSpPr txBox="1"/>
          <p:nvPr/>
        </p:nvSpPr>
        <p:spPr>
          <a:xfrm>
            <a:off x="8444013" y="4140037"/>
            <a:ext cx="297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R.8 Opinión Invitado</a:t>
            </a:r>
            <a:endParaRPr sz="1600"/>
          </a:p>
        </p:txBody>
      </p:sp>
      <p:sp>
        <p:nvSpPr>
          <p:cNvPr id="173" name="Google Shape;173;p16"/>
          <p:cNvSpPr txBox="1"/>
          <p:nvPr/>
        </p:nvSpPr>
        <p:spPr>
          <a:xfrm>
            <a:off x="8444013" y="4416262"/>
            <a:ext cx="28353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Módulo de recolección de feedback cualitativo en app.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985837" y="485775"/>
            <a:ext cx="6020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Metodología:</a:t>
            </a:r>
            <a:r>
              <a:rPr lang="en-US" sz="255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Kanban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71375" y="3419390"/>
            <a:ext cx="28353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Diseñar envíos y alertas automáticas críticas de turnos.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771375" y="4470712"/>
            <a:ext cx="28353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Control de bodega local offline integrado en Room.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4574300" y="1913703"/>
            <a:ext cx="28353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Desarrollo de mensajería interna con Ktor y SQLite.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8429725" y="3364940"/>
            <a:ext cx="28353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Validación de credenciales con control seguro de roles.</a:t>
            </a:r>
            <a:endParaRPr/>
          </a:p>
        </p:txBody>
      </p:sp>
      <p:pic>
        <p:nvPicPr>
          <p:cNvPr descr="image.png" id="179" name="Google Shape;179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250088" y="2692100"/>
            <a:ext cx="3691819" cy="332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4250088" y="2870990"/>
            <a:ext cx="36918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100" lIns="65100" spcFirstLastPara="1" rIns="65100" wrap="square" tIns="6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3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Fundamentos</a:t>
            </a:r>
            <a:endParaRPr sz="1993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4250088" y="3632254"/>
            <a:ext cx="36918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100" lIns="65100" spcFirstLastPara="1" rIns="65100" wrap="square" tIns="6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Priorización basada en MVP</a:t>
            </a:r>
            <a:endParaRPr sz="1780">
              <a:solidFill>
                <a:srgbClr val="34D39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4250088" y="4316327"/>
            <a:ext cx="36918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100" lIns="65100" spcFirstLastPara="1" rIns="65100" wrap="square" tIns="6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Entrega continua</a:t>
            </a:r>
            <a:endParaRPr sz="1780">
              <a:solidFill>
                <a:srgbClr val="34D39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4250088" y="5000401"/>
            <a:ext cx="36918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100" lIns="65100" spcFirstLastPara="1" rIns="65100" wrap="square" tIns="6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Validación de calidad</a:t>
            </a:r>
            <a:endParaRPr sz="1780">
              <a:solidFill>
                <a:srgbClr val="34D39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62472"/>
            <a:ext cx="11029950" cy="3256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17"/>
          <p:cNvGraphicFramePr/>
          <p:nvPr/>
        </p:nvGraphicFramePr>
        <p:xfrm>
          <a:off x="590550" y="2171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{0138C215-89E5-4F5B-AA03-0A5E4D091B54}</a:tableStyleId>
              </a:tblPr>
              <a:tblGrid>
                <a:gridCol w="785225"/>
                <a:gridCol w="1990875"/>
                <a:gridCol w="1742025"/>
                <a:gridCol w="4966100"/>
                <a:gridCol w="1526675"/>
              </a:tblGrid>
              <a:tr h="53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Requerimiento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Clasificación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Descripción Técnica Corta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Autenticación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Acceso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Validación mediante credenciales cifradas y control de roles.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761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Implementado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R.10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Gestión de Menús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Operación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Creación, edición y administración de minutas alimentarias.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761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Implementado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R.11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Gestión de Reservas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Operación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Consulta formal de espacios físicos y locales asociados.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761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Implementado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R.13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Notificaciones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Monitoreo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Avisos automáticos de estados críticos y recordatorios.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F9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Parcial</a:t>
                      </a:r>
                      <a:endParaRPr>
                        <a:solidFill>
                          <a:srgbClr val="BF9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R.14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Evaluación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Feedback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Procesamiento de opiniones para índices de reputación.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761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Implementado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7"/>
          <p:cNvSpPr/>
          <p:nvPr/>
        </p:nvSpPr>
        <p:spPr>
          <a:xfrm>
            <a:off x="590550" y="2667297"/>
            <a:ext cx="785217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1375767" y="2667297"/>
            <a:ext cx="199087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366641" y="2667297"/>
            <a:ext cx="174203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5108674" y="2667297"/>
            <a:ext cx="496609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10074771" y="2667297"/>
            <a:ext cx="1526678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590550" y="3226296"/>
            <a:ext cx="7852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1375767" y="3226296"/>
            <a:ext cx="1990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3366641" y="3226296"/>
            <a:ext cx="17420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108674" y="3226296"/>
            <a:ext cx="4966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10074771" y="3226296"/>
            <a:ext cx="15266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590550" y="3771007"/>
            <a:ext cx="7852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1375767" y="3771007"/>
            <a:ext cx="1990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3366641" y="3771007"/>
            <a:ext cx="17420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108674" y="3771007"/>
            <a:ext cx="4966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10074771" y="3771007"/>
            <a:ext cx="15266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90550" y="4315717"/>
            <a:ext cx="7852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1375767" y="4315717"/>
            <a:ext cx="1990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3366641" y="4315717"/>
            <a:ext cx="17420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5108674" y="4315717"/>
            <a:ext cx="4966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10074771" y="4315717"/>
            <a:ext cx="15266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90550" y="4860428"/>
            <a:ext cx="7852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1375767" y="4860428"/>
            <a:ext cx="19908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3366641" y="4860428"/>
            <a:ext cx="17420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5108674" y="4860428"/>
            <a:ext cx="49660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10074771" y="4860428"/>
            <a:ext cx="15266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985837" y="485775"/>
            <a:ext cx="592574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Requisitos Funcionales Destacados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1933"/>
            <a:ext cx="3486150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11933"/>
            <a:ext cx="3486150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611933"/>
            <a:ext cx="3486150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904875" y="3392983"/>
            <a:ext cx="301037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RNF01: Offline-First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904875" y="3821608"/>
            <a:ext cx="28670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Persistencia local robusta en Room DB / SQLite. La app mantiene operatividad total en campo sin conexión y sincroniza los datos de forma automática al restablecerse la red.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4676775" y="3392983"/>
            <a:ext cx="301037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RNF02: Seguridad Local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4676775" y="3821608"/>
            <a:ext cx="28670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Encriptación y resguardo de datos sensibles (credenciales y tokens) de forma local utilizando el subsistema seguro Keystore de Android Studio y transporte vía HTTPS (TLS 1.3) con JWT.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8448675" y="3392983"/>
            <a:ext cx="301037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RNF04: Material 3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8448675" y="3821608"/>
            <a:ext cx="28670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Garantía de usabilidad y accesibilidad basada estrictamente en los lineamientos visuales modernos de Material Design 3 de Android, estructurando interfaces legibles e intuitivas.</a:t>
            </a:r>
            <a:endParaRPr/>
          </a:p>
        </p:txBody>
      </p:sp>
      <p:pic>
        <p:nvPicPr>
          <p:cNvPr descr="image.png" id="233" name="Google Shape;23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945308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2945308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8675" y="2945308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/>
        </p:nvSpPr>
        <p:spPr>
          <a:xfrm>
            <a:off x="985837" y="485775"/>
            <a:ext cx="57007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Requisitos No Funcionales Críticos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350" y="2259338"/>
            <a:ext cx="5590700" cy="938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50" y="3286088"/>
            <a:ext cx="5590700" cy="938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350" y="4312863"/>
            <a:ext cx="5590700" cy="938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/>
          <p:nvPr/>
        </p:nvSpPr>
        <p:spPr>
          <a:xfrm>
            <a:off x="212325" y="2385828"/>
            <a:ext cx="51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Organizador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402825" y="2582288"/>
            <a:ext cx="52578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Crea eventos, define locales, coordina personal de apoyo y evalúa análisis de reputación.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212325" y="3412593"/>
            <a:ext cx="51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Personal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402825" y="3609050"/>
            <a:ext cx="52578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Revisa asignaciones, interactúa en chat interno y mantiene actualizado su perfil calificado.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212325" y="4439358"/>
            <a:ext cx="51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Comision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402825" y="4635813"/>
            <a:ext cx="52578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Evalúa directamente la calidad del servicio del evento (comida, organización y local físico).</a:t>
            </a:r>
            <a:endParaRPr/>
          </a:p>
        </p:txBody>
      </p:sp>
      <p:pic>
        <p:nvPicPr>
          <p:cNvPr descr="image.png" id="251" name="Google Shape;25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325" y="242392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2325" y="345069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2325" y="447745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/>
          <p:nvPr/>
        </p:nvSpPr>
        <p:spPr>
          <a:xfrm>
            <a:off x="1052512" y="485775"/>
            <a:ext cx="6410801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4+1 Vistas: Vista de Escenarios</a:t>
            </a:r>
            <a:endParaRPr/>
          </a:p>
        </p:txBody>
      </p:sp>
      <p:pic>
        <p:nvPicPr>
          <p:cNvPr id="255" name="Google Shape;255;p19" title="caso_de_uso_vista _escenarios_simplificad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63650" y="1086988"/>
            <a:ext cx="5971225" cy="5336639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59434"/>
            <a:ext cx="3549550" cy="2344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859434"/>
            <a:ext cx="3549699" cy="2344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859434"/>
            <a:ext cx="3549550" cy="2344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1171575" y="3004184"/>
            <a:ext cx="27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Capa de </a:t>
            </a:r>
            <a:r>
              <a:rPr b="0" i="0" lang="en-US" sz="1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Presentación (UI)</a:t>
            </a:r>
            <a:endParaRPr sz="1600"/>
          </a:p>
        </p:txBody>
      </p:sp>
      <p:sp>
        <p:nvSpPr>
          <p:cNvPr id="266" name="Google Shape;266;p20"/>
          <p:cNvSpPr txBox="1"/>
          <p:nvPr/>
        </p:nvSpPr>
        <p:spPr>
          <a:xfrm>
            <a:off x="904875" y="3336609"/>
            <a:ext cx="293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Diseño de pantallas.</a:t>
            </a:r>
            <a:endParaRPr sz="1200"/>
          </a:p>
        </p:txBody>
      </p:sp>
      <p:sp>
        <p:nvSpPr>
          <p:cNvPr id="267" name="Google Shape;267;p20"/>
          <p:cNvSpPr txBox="1"/>
          <p:nvPr/>
        </p:nvSpPr>
        <p:spPr>
          <a:xfrm>
            <a:off x="4911625" y="3004184"/>
            <a:ext cx="279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Capa de Negocio </a:t>
            </a:r>
            <a:r>
              <a:rPr b="0" i="0" lang="en-US" sz="1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(Reglas)</a:t>
            </a:r>
            <a:endParaRPr sz="1600"/>
          </a:p>
        </p:txBody>
      </p:sp>
      <p:sp>
        <p:nvSpPr>
          <p:cNvPr id="268" name="Google Shape;268;p20"/>
          <p:cNvSpPr txBox="1"/>
          <p:nvPr/>
        </p:nvSpPr>
        <p:spPr>
          <a:xfrm>
            <a:off x="4644925" y="3336609"/>
            <a:ext cx="293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Lógica pura.</a:t>
            </a:r>
            <a:endParaRPr sz="1200"/>
          </a:p>
        </p:txBody>
      </p:sp>
      <p:sp>
        <p:nvSpPr>
          <p:cNvPr id="269" name="Google Shape;269;p20"/>
          <p:cNvSpPr txBox="1"/>
          <p:nvPr/>
        </p:nvSpPr>
        <p:spPr>
          <a:xfrm>
            <a:off x="8651975" y="2925034"/>
            <a:ext cx="281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Capa de acceso a </a:t>
            </a:r>
            <a:r>
              <a:rPr b="0" i="0" lang="en-US" sz="16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Datos (Repository)</a:t>
            </a:r>
            <a:endParaRPr sz="1600"/>
          </a:p>
        </p:txBody>
      </p:sp>
      <p:sp>
        <p:nvSpPr>
          <p:cNvPr id="270" name="Google Shape;270;p20"/>
          <p:cNvSpPr txBox="1"/>
          <p:nvPr/>
        </p:nvSpPr>
        <p:spPr>
          <a:xfrm>
            <a:off x="8385125" y="3526184"/>
            <a:ext cx="293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Mediador de datos.</a:t>
            </a:r>
            <a:endParaRPr sz="1200"/>
          </a:p>
        </p:txBody>
      </p:sp>
      <p:pic>
        <p:nvPicPr>
          <p:cNvPr descr="image.png" id="271" name="Google Shape;27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304704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/>
        </p:nvSpPr>
        <p:spPr>
          <a:xfrm>
            <a:off x="1176325" y="3691188"/>
            <a:ext cx="2663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Componentes visuales nativos en Android XML.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1171575" y="4421375"/>
            <a:ext cx="28170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Desacoplamiento asíncrono con ViewModels y StateFlow de Kotlin.</a:t>
            </a:r>
            <a:endParaRPr/>
          </a:p>
        </p:txBody>
      </p:sp>
      <p:pic>
        <p:nvPicPr>
          <p:cNvPr descr="image.png" id="274" name="Google Shape;27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925" y="304704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4916375" y="3691188"/>
            <a:ext cx="26640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Modelado de casos de uso y lógica de negocios en Kotlin puro.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4911625" y="4421385"/>
            <a:ext cx="26640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Independiente de librerías externas y de persistencia.</a:t>
            </a:r>
            <a:endParaRPr/>
          </a:p>
        </p:txBody>
      </p:sp>
      <p:pic>
        <p:nvPicPr>
          <p:cNvPr descr="image.png" id="277" name="Google Shape;27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5125" y="3047047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 txBox="1"/>
          <p:nvPr/>
        </p:nvSpPr>
        <p:spPr>
          <a:xfrm>
            <a:off x="8651825" y="3819525"/>
            <a:ext cx="2663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Acceso local rápido mediante Room DB (SQLite local).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8623375" y="4488485"/>
            <a:ext cx="2663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Consumo remoto asíncrono de la API externa construida en Ktor.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909625" y="3691188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904875" y="442138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649675" y="3691188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4644925" y="442138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8385125" y="381952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8356675" y="448848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1052512" y="485775"/>
            <a:ext cx="6280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sng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4+1 Vistas: Vista de Desarrollo</a:t>
            </a:r>
            <a:endParaRPr u="sng"/>
          </a:p>
        </p:txBody>
      </p:sp>
      <p:sp>
        <p:nvSpPr>
          <p:cNvPr id="287" name="Google Shape;287;p20"/>
          <p:cNvSpPr txBox="1"/>
          <p:nvPr/>
        </p:nvSpPr>
        <p:spPr>
          <a:xfrm>
            <a:off x="408350" y="862000"/>
            <a:ext cx="6659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Arquitectura Tradicional de Tres </a:t>
            </a:r>
            <a:r>
              <a:rPr lang="en-US" sz="17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Capas</a:t>
            </a:r>
            <a:r>
              <a:rPr b="1" lang="en-US" sz="17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7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14550"/>
            <a:ext cx="5185649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95312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1"/>
          <p:cNvSpPr txBox="1"/>
          <p:nvPr/>
        </p:nvSpPr>
        <p:spPr>
          <a:xfrm>
            <a:off x="1023925" y="485775"/>
            <a:ext cx="646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sng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4+1 Vistas: Vista Lógica</a:t>
            </a:r>
            <a:endParaRPr sz="3200" u="sng"/>
          </a:p>
        </p:txBody>
      </p:sp>
      <p:pic>
        <p:nvPicPr>
          <p:cNvPr id="296" name="Google Shape;296;p21" title="mini__vista_lógic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9575" y="1214550"/>
            <a:ext cx="5543550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1"/>
          <p:cNvSpPr txBox="1"/>
          <p:nvPr/>
        </p:nvSpPr>
        <p:spPr>
          <a:xfrm>
            <a:off x="581025" y="1465825"/>
            <a:ext cx="51858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Valor del Negocio</a:t>
            </a:r>
            <a:endParaRPr sz="2800" u="sng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81025" y="2535125"/>
            <a:ext cx="5185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Trazabilidad Total</a:t>
            </a:r>
            <a:endParaRPr sz="2500">
              <a:solidFill>
                <a:srgbClr val="34D39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81025" y="3496000"/>
            <a:ext cx="5185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Transparencia Analítica</a:t>
            </a:r>
            <a:endParaRPr sz="2500">
              <a:solidFill>
                <a:srgbClr val="34D39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581025" y="4456875"/>
            <a:ext cx="5185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Centralización</a:t>
            </a:r>
            <a:endParaRPr sz="2500">
              <a:solidFill>
                <a:srgbClr val="34D39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/>
          <p:nvPr/>
        </p:nvSpPr>
        <p:spPr>
          <a:xfrm>
            <a:off x="305250" y="1107646"/>
            <a:ext cx="1158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Ciclo de Vida del Registro de Opinión (Transacción Asíncrona)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1683991" y="4043362"/>
            <a:ext cx="8824017" cy="19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985825" y="485775"/>
            <a:ext cx="690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Vista de Procesos: Sincronización</a:t>
            </a:r>
            <a:endParaRPr sz="3200"/>
          </a:p>
        </p:txBody>
      </p:sp>
      <p:pic>
        <p:nvPicPr>
          <p:cNvPr descr="image.png" id="309" name="Google Shape;3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6868" y="595296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07106" y="595296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67318" y="614946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8126177" y="1166796"/>
            <a:ext cx="87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Validación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9416356" y="1166796"/>
            <a:ext cx="101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Persistencia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10676543" y="1166796"/>
            <a:ext cx="121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Sincronización</a:t>
            </a:r>
            <a:endParaRPr/>
          </a:p>
        </p:txBody>
      </p:sp>
      <p:pic>
        <p:nvPicPr>
          <p:cNvPr id="315" name="Google Shape;315;p22" title="Vista_Proceso_Opinión_Sincronizació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163" y="1474825"/>
            <a:ext cx="10973676" cy="4839563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150" y="2025038"/>
            <a:ext cx="5324474" cy="883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150" y="3051803"/>
            <a:ext cx="5324474" cy="1081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50" y="4276658"/>
            <a:ext cx="5324474" cy="1081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 txBox="1"/>
          <p:nvPr/>
        </p:nvSpPr>
        <p:spPr>
          <a:xfrm>
            <a:off x="411750" y="2225063"/>
            <a:ext cx="514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Captura de Identidad</a:t>
            </a:r>
            <a:endParaRPr sz="1500"/>
          </a:p>
        </p:txBody>
      </p:sp>
      <p:sp>
        <p:nvSpPr>
          <p:cNvPr id="326" name="Google Shape;326;p23"/>
          <p:cNvSpPr txBox="1"/>
          <p:nvPr/>
        </p:nvSpPr>
        <p:spPr>
          <a:xfrm>
            <a:off x="411750" y="2510813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Ingreso de RUT y clave alfanumérica del usuario en la interfaz del login.</a:t>
            </a:r>
            <a:endParaRPr sz="1200"/>
          </a:p>
        </p:txBody>
      </p:sp>
      <p:sp>
        <p:nvSpPr>
          <p:cNvPr id="327" name="Google Shape;327;p23"/>
          <p:cNvSpPr txBox="1"/>
          <p:nvPr/>
        </p:nvSpPr>
        <p:spPr>
          <a:xfrm>
            <a:off x="411750" y="3251828"/>
            <a:ext cx="514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Consulta Local vs Remota</a:t>
            </a:r>
            <a:endParaRPr sz="1500"/>
          </a:p>
        </p:txBody>
      </p:sp>
      <p:sp>
        <p:nvSpPr>
          <p:cNvPr id="328" name="Google Shape;328;p23"/>
          <p:cNvSpPr txBox="1"/>
          <p:nvPr/>
        </p:nvSpPr>
        <p:spPr>
          <a:xfrm>
            <a:off x="411750" y="3537578"/>
            <a:ext cx="489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 app primero </a:t>
            </a:r>
            <a:r>
              <a:rPr lang="en-US" sz="12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válida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si tiene credenciales en caché segura local (Keystore); de lo contrario, envía petición HTTP al servidor.</a:t>
            </a:r>
            <a:endParaRPr sz="1200"/>
          </a:p>
        </p:txBody>
      </p:sp>
      <p:sp>
        <p:nvSpPr>
          <p:cNvPr id="329" name="Google Shape;329;p23"/>
          <p:cNvSpPr txBox="1"/>
          <p:nvPr/>
        </p:nvSpPr>
        <p:spPr>
          <a:xfrm>
            <a:off x="411750" y="4476683"/>
            <a:ext cx="514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Concesión de Token</a:t>
            </a:r>
            <a:endParaRPr sz="1500"/>
          </a:p>
        </p:txBody>
      </p:sp>
      <p:sp>
        <p:nvSpPr>
          <p:cNvPr id="330" name="Google Shape;330;p23"/>
          <p:cNvSpPr txBox="1"/>
          <p:nvPr/>
        </p:nvSpPr>
        <p:spPr>
          <a:xfrm>
            <a:off x="411750" y="4762433"/>
            <a:ext cx="489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Tras la respuesta 200 OK del backend, se almacena un token JWT para la sesión y se redirige a la vista del rol.</a:t>
            </a:r>
            <a:endParaRPr sz="1200"/>
          </a:p>
        </p:txBody>
      </p:sp>
      <p:sp>
        <p:nvSpPr>
          <p:cNvPr id="331" name="Google Shape;331;p23"/>
          <p:cNvSpPr txBox="1"/>
          <p:nvPr/>
        </p:nvSpPr>
        <p:spPr>
          <a:xfrm>
            <a:off x="1052496" y="485775"/>
            <a:ext cx="945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Vista de Procesos: Autenticación de Usuario</a:t>
            </a:r>
            <a:endParaRPr sz="3200"/>
          </a:p>
        </p:txBody>
      </p:sp>
      <p:pic>
        <p:nvPicPr>
          <p:cNvPr id="332" name="Google Shape;332;p23" title="Vista_Proceso_Autenticació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43450" y="1542750"/>
            <a:ext cx="6403676" cy="4156424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950" y="1194950"/>
            <a:ext cx="5391674" cy="110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1850" y="1194950"/>
            <a:ext cx="5210701" cy="110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7788" y="2373525"/>
            <a:ext cx="5782274" cy="90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4"/>
          <p:cNvSpPr txBox="1"/>
          <p:nvPr/>
        </p:nvSpPr>
        <p:spPr>
          <a:xfrm>
            <a:off x="744925" y="1375929"/>
            <a:ext cx="521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Nodo Cliente Móvil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744925" y="1661679"/>
            <a:ext cx="4962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Dispositivos Android que compilan la interfaz nativa (EventivaNexo.apk). Realiza la persistencia local transaccional mediante Room DB / SQLite.</a:t>
            </a:r>
            <a:endParaRPr sz="1200"/>
          </a:p>
        </p:txBody>
      </p:sp>
      <p:sp>
        <p:nvSpPr>
          <p:cNvPr id="343" name="Google Shape;343;p24"/>
          <p:cNvSpPr txBox="1"/>
          <p:nvPr/>
        </p:nvSpPr>
        <p:spPr>
          <a:xfrm>
            <a:off x="6269950" y="1375950"/>
            <a:ext cx="49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Canal y Servidor Backend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6170200" y="1673613"/>
            <a:ext cx="5143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Canal de comunicación encriptado HTTPS (TLS 1.3) y firma JWT. El backend ejecuta una API REST asíncrona de alta concurrencia construida en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Kotlin</a:t>
            </a:r>
            <a:r>
              <a:rPr b="1" lang="en-US" sz="12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/>
          </a:p>
        </p:txBody>
      </p:sp>
      <p:sp>
        <p:nvSpPr>
          <p:cNvPr id="345" name="Google Shape;345;p24"/>
          <p:cNvSpPr txBox="1"/>
          <p:nvPr/>
        </p:nvSpPr>
        <p:spPr>
          <a:xfrm>
            <a:off x="3368750" y="2416078"/>
            <a:ext cx="521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Nodo Servidor de Datos Central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3368762" y="2659763"/>
            <a:ext cx="5601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Motor relacional corporativo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centralizado en la nube, gobernando con máxima seguridad e integridad referencial el histórico general de la plataforma.</a:t>
            </a:r>
            <a:endParaRPr sz="1200"/>
          </a:p>
        </p:txBody>
      </p:sp>
      <p:pic>
        <p:nvPicPr>
          <p:cNvPr descr="image.png" id="347" name="Google Shape;34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709650" y="1391346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9950" y="139214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3588" y="242686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4"/>
          <p:cNvSpPr txBox="1"/>
          <p:nvPr/>
        </p:nvSpPr>
        <p:spPr>
          <a:xfrm>
            <a:off x="1052512" y="485775"/>
            <a:ext cx="709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4+1 Vistas: Vista Física</a:t>
            </a:r>
            <a:endParaRPr sz="3200"/>
          </a:p>
        </p:txBody>
      </p:sp>
      <p:pic>
        <p:nvPicPr>
          <p:cNvPr id="351" name="Google Shape;351;p24"/>
          <p:cNvPicPr preferRelativeResize="0"/>
          <p:nvPr/>
        </p:nvPicPr>
        <p:blipFill rotWithShape="1">
          <a:blip r:embed="rId9">
            <a:alphaModFix/>
          </a:blip>
          <a:srcRect b="0" l="0" r="0" t="6533"/>
          <a:stretch/>
        </p:blipFill>
        <p:spPr>
          <a:xfrm>
            <a:off x="1596763" y="3456200"/>
            <a:ext cx="9145274" cy="31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6" name="Google Shape;3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7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45162"/>
            <a:ext cx="34861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445162"/>
            <a:ext cx="34861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1445162"/>
            <a:ext cx="34861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 txBox="1"/>
          <p:nvPr/>
        </p:nvSpPr>
        <p:spPr>
          <a:xfrm>
            <a:off x="828675" y="1692812"/>
            <a:ext cx="299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&gt; 95%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828675" y="2207162"/>
            <a:ext cx="299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Cobertura de Código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828675" y="2464337"/>
            <a:ext cx="2991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Pruebas unitarias sobre casos de uso y validación síncrona de los DAOs de persistencia local.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4600575" y="1692812"/>
            <a:ext cx="299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&lt; 2.0s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4600575" y="2207162"/>
            <a:ext cx="299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Latencia de la API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4600575" y="2464337"/>
            <a:ext cx="2991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Medición de tiempos de respuesta bajo peticiones en red del cliente asíncrono Ktor hacia PostgreSQL.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8372475" y="1692812"/>
            <a:ext cx="299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&gt; 90%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8372475" y="2207162"/>
            <a:ext cx="299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Tasa de Éxito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8372475" y="2464337"/>
            <a:ext cx="2991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Tolerancia a fallas y sincronización transaccional libre de colisiones al </a:t>
            </a:r>
            <a:r>
              <a:rPr lang="en-US" sz="975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establecer</a:t>
            </a: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conexión remota.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1052512" y="485775"/>
            <a:ext cx="582072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 de Aseguramiento de Calidad</a:t>
            </a:r>
            <a:endParaRPr/>
          </a:p>
        </p:txBody>
      </p:sp>
      <p:graphicFrame>
        <p:nvGraphicFramePr>
          <p:cNvPr id="371" name="Google Shape;371;p25"/>
          <p:cNvGraphicFramePr/>
          <p:nvPr/>
        </p:nvGraphicFramePr>
        <p:xfrm>
          <a:off x="581000" y="33898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22262B"/>
                </a:solidFill>
                <a:tableStyleId>{04354089-3BDC-4FBB-94C8-223251191CA8}</a:tableStyleId>
              </a:tblPr>
              <a:tblGrid>
                <a:gridCol w="4488200"/>
                <a:gridCol w="1805225"/>
                <a:gridCol w="2666400"/>
                <a:gridCol w="2070150"/>
              </a:tblGrid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Categoría de Prueba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Casos Totales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Ejecutados con Éxito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Estado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Pruebas Unitarias (DAOs/Lógica)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60</a:t>
                      </a:r>
                      <a:endParaRPr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58</a:t>
                      </a:r>
                      <a:endParaRPr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Completado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Pruebas de Integración (Sync/API)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</a:t>
                      </a:r>
                      <a:endParaRPr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</a:t>
                      </a:r>
                      <a:endParaRPr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Completado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Pruebas Funcionales (MVP)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</a:t>
                      </a:r>
                      <a:endParaRPr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</a:t>
                      </a:r>
                      <a:endParaRPr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Completado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Pruebas de Seguridad y Rendimiento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</a:t>
                      </a:r>
                      <a:endParaRPr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</a:t>
                      </a:r>
                      <a:endParaRPr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 Mejora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120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112 (93.3%)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Meta Cumplida</a:t>
                      </a:r>
                      <a:endParaRPr b="1">
                        <a:solidFill>
                          <a:srgbClr val="38BDF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6" name="Google Shape;3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6"/>
          <p:cNvSpPr txBox="1"/>
          <p:nvPr/>
        </p:nvSpPr>
        <p:spPr>
          <a:xfrm>
            <a:off x="2137855" y="2813250"/>
            <a:ext cx="3680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Vídeo de la aplicación</a:t>
            </a:r>
            <a:endParaRPr sz="4000" u="sng"/>
          </a:p>
        </p:txBody>
      </p:sp>
      <p:pic>
        <p:nvPicPr>
          <p:cNvPr descr="Cell phone vector, Electronic device solid style icon (proporcionado por Getty Images)" id="378" name="Google Shape;3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0400" y="1481522"/>
            <a:ext cx="3894948" cy="3894948"/>
          </a:xfrm>
          <a:prstGeom prst="rect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3" name="Google Shape;3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476750"/>
            <a:ext cx="110299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571750"/>
            <a:ext cx="532447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571750"/>
            <a:ext cx="532447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7"/>
          <p:cNvSpPr txBox="1"/>
          <p:nvPr/>
        </p:nvSpPr>
        <p:spPr>
          <a:xfrm>
            <a:off x="733425" y="4629150"/>
            <a:ext cx="10725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Desacoplamiento, Resiliencia Offline-First (Room DB), Backend en Kotlin / Ktor y Base de Datos Corporativa PostgreSQL.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1209675" y="2867025"/>
            <a:ext cx="46205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Mitigación Operativa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904875" y="3295650"/>
            <a:ext cx="4705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Erradica de manera definitiva la ineficiencia, pérdida de tiempo y carencia de trazabilidad que sufren las agencias de eventos coordinadas manualmente, integrando los flujos en un único núcleo móvil robusto.</a:t>
            </a:r>
            <a:endParaRPr/>
          </a:p>
        </p:txBody>
      </p:sp>
      <p:sp>
        <p:nvSpPr>
          <p:cNvPr id="391" name="Google Shape;391;p27"/>
          <p:cNvSpPr txBox="1"/>
          <p:nvPr/>
        </p:nvSpPr>
        <p:spPr>
          <a:xfrm>
            <a:off x="6915150" y="2867025"/>
            <a:ext cx="46205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Transparencia Analítica</a:t>
            </a:r>
            <a:endParaRPr/>
          </a:p>
        </p:txBody>
      </p:sp>
      <p:sp>
        <p:nvSpPr>
          <p:cNvPr id="392" name="Google Shape;392;p27"/>
          <p:cNvSpPr txBox="1"/>
          <p:nvPr/>
        </p:nvSpPr>
        <p:spPr>
          <a:xfrm>
            <a:off x="6610350" y="3295650"/>
            <a:ext cx="4705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Provee a las PYMEs una potente herramienta de auditoría de calidad de sus servicios de catering y organización, recopilando opiniones de invitados con un algoritmo de reputación fidedigno basado en datos reales.</a:t>
            </a:r>
            <a:endParaRPr/>
          </a:p>
        </p:txBody>
      </p:sp>
      <p:pic>
        <p:nvPicPr>
          <p:cNvPr descr="image.png" id="393" name="Google Shape;39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29194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10350" y="29194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7"/>
          <p:cNvSpPr txBox="1"/>
          <p:nvPr/>
        </p:nvSpPr>
        <p:spPr>
          <a:xfrm>
            <a:off x="1052512" y="485775"/>
            <a:ext cx="6015751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Conclusión e Impacto de la Solución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0" name="Google Shape;4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8"/>
          <p:cNvSpPr txBox="1"/>
          <p:nvPr/>
        </p:nvSpPr>
        <p:spPr>
          <a:xfrm>
            <a:off x="2638050" y="2687625"/>
            <a:ext cx="69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Lecciones Aprendidas</a:t>
            </a:r>
            <a:endParaRPr sz="4000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